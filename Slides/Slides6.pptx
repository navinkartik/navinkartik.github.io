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68" r:id="rId4"/>
    <p:sldId id="260" r:id="rId5"/>
    <p:sldId id="261" r:id="rId6"/>
    <p:sldId id="262" r:id="rId7"/>
    <p:sldId id="258" r:id="rId8"/>
    <p:sldId id="271" r:id="rId9"/>
    <p:sldId id="259" r:id="rId10"/>
    <p:sldId id="264" r:id="rId11"/>
    <p:sldId id="263" r:id="rId12"/>
    <p:sldId id="265" r:id="rId13"/>
    <p:sldId id="266" r:id="rId14"/>
    <p:sldId id="267" r:id="rId15"/>
    <p:sldId id="269" r:id="rId16"/>
    <p:sldId id="270" r:id="rId17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00FF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9" autoAdjust="0"/>
    <p:restoredTop sz="94612" autoAdjust="0"/>
  </p:normalViewPr>
  <p:slideViewPr>
    <p:cSldViewPr snapToGrid="0" snapToObjects="1">
      <p:cViewPr varScale="1">
        <p:scale>
          <a:sx n="172" d="100"/>
          <a:sy n="172" d="100"/>
        </p:scale>
        <p:origin x="240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ac%20HD:Users:nkartik:Dropbox:Teaching:Columbia%20-%20Undergrad%20PE%20Seminar:Lectures:condorcet%20jury%20theorem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Probability that majority makes right decision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1"/>
          <c:order val="0"/>
          <c:marker>
            <c:symbol val="none"/>
          </c:marker>
          <c:val>
            <c:numRef>
              <c:f>Sheet1!$B$4:$B$100</c:f>
              <c:numCache>
                <c:formatCode>General</c:formatCode>
                <c:ptCount val="97"/>
                <c:pt idx="0">
                  <c:v>0.51</c:v>
                </c:pt>
                <c:pt idx="1">
                  <c:v>0.51499799999999996</c:v>
                </c:pt>
                <c:pt idx="2">
                  <c:v>0.51874500059999995</c:v>
                </c:pt>
                <c:pt idx="3">
                  <c:v>0.52186625209979998</c:v>
                </c:pt>
                <c:pt idx="4">
                  <c:v>0.52459625472409999</c:v>
                </c:pt>
                <c:pt idx="5">
                  <c:v>0.52705227428502599</c:v>
                </c:pt>
                <c:pt idx="6">
                  <c:v>0.52930272500870101</c:v>
                </c:pt>
                <c:pt idx="7">
                  <c:v>0.53139159337041697</c:v>
                </c:pt>
                <c:pt idx="8">
                  <c:v>0.53334912413389002</c:v>
                </c:pt>
                <c:pt idx="9">
                  <c:v>0.53519716367666004</c:v>
                </c:pt>
                <c:pt idx="10">
                  <c:v>0.53695209898726504</c:v>
                </c:pt>
                <c:pt idx="11">
                  <c:v>0.53862659444481398</c:v>
                </c:pt>
                <c:pt idx="12">
                  <c:v>0.54023067736837305</c:v>
                </c:pt>
                <c:pt idx="13">
                  <c:v>0.54177244783990297</c:v>
                </c:pt>
                <c:pt idx="14">
                  <c:v>0.54325856039740905</c:v>
                </c:pt>
                <c:pt idx="15">
                  <c:v>0.54469456123947702</c:v>
                </c:pt>
                <c:pt idx="16">
                  <c:v>0.54608513060490405</c:v>
                </c:pt>
                <c:pt idx="17">
                  <c:v>0.547434261003241</c:v>
                </c:pt>
                <c:pt idx="18">
                  <c:v>0.54874539089535901</c:v>
                </c:pt>
                <c:pt idx="19">
                  <c:v>0.550021506718673</c:v>
                </c:pt>
                <c:pt idx="20">
                  <c:v>0.55126522196123295</c:v>
                </c:pt>
                <c:pt idx="21">
                  <c:v>0.55247883929492303</c:v>
                </c:pt>
                <c:pt idx="22">
                  <c:v>0.553664400002435</c:v>
                </c:pt>
                <c:pt idx="23">
                  <c:v>0.55482372373602895</c:v>
                </c:pt>
                <c:pt idx="24">
                  <c:v>0.55595844082337698</c:v>
                </c:pt>
                <c:pt idx="25">
                  <c:v>0.55707001875988005</c:v>
                </c:pt>
                <c:pt idx="26">
                  <c:v>0.55815978411702905</c:v>
                </c:pt>
                <c:pt idx="27">
                  <c:v>0.55922894080042496</c:v>
                </c:pt>
                <c:pt idx="28">
                  <c:v>0.56027858537434705</c:v>
                </c:pt>
                <c:pt idx="29">
                  <c:v>0.56130972000912904</c:v>
                </c:pt>
                <c:pt idx="30">
                  <c:v>0.56232326348704098</c:v>
                </c:pt>
                <c:pt idx="31">
                  <c:v>0.56332006061110196</c:v>
                </c:pt>
                <c:pt idx="32">
                  <c:v>0.56430089029123098</c:v>
                </c:pt>
                <c:pt idx="33">
                  <c:v>0.56526647252815099</c:v>
                </c:pt>
                <c:pt idx="34">
                  <c:v>0.56621747447329496</c:v>
                </c:pt>
                <c:pt idx="35">
                  <c:v>0.56715451570988296</c:v>
                </c:pt>
                <c:pt idx="36">
                  <c:v>0.56807817287414297</c:v>
                </c:pt>
                <c:pt idx="37">
                  <c:v>0.56898898371470596</c:v>
                </c:pt>
                <c:pt idx="38">
                  <c:v>0.56988745067151003</c:v>
                </c:pt>
                <c:pt idx="39">
                  <c:v>0.57077404404191401</c:v>
                </c:pt>
                <c:pt idx="40">
                  <c:v>0.57164920479080805</c:v>
                </c:pt>
                <c:pt idx="41">
                  <c:v>0.57251334705241996</c:v>
                </c:pt>
                <c:pt idx="42">
                  <c:v>0.57336686036421303</c:v>
                </c:pt>
                <c:pt idx="43">
                  <c:v>0.57421011166711899</c:v>
                </c:pt>
                <c:pt idx="44">
                  <c:v>0.57504344710129396</c:v>
                </c:pt>
                <c:pt idx="45">
                  <c:v>0.57586719362240602</c:v>
                </c:pt>
                <c:pt idx="46">
                  <c:v>0.57668166045988301</c:v>
                </c:pt>
                <c:pt idx="47">
                  <c:v>0.577487140435617</c:v>
                </c:pt>
                <c:pt idx="48">
                  <c:v>0.57828391115911404</c:v>
                </c:pt>
                <c:pt idx="49">
                  <c:v>0.57907223611294101</c:v>
                </c:pt>
                <c:pt idx="50">
                  <c:v>0.57985236564054898</c:v>
                </c:pt>
                <c:pt idx="51">
                  <c:v>0.58062453784697399</c:v>
                </c:pt>
                <c:pt idx="52">
                  <c:v>0.58138897942165702</c:v>
                </c:pt>
                <c:pt idx="53">
                  <c:v>0.58214590639142605</c:v>
                </c:pt>
                <c:pt idx="54">
                  <c:v>0.58289552481078599</c:v>
                </c:pt>
                <c:pt idx="55">
                  <c:v>0.58363803139576098</c:v>
                </c:pt>
                <c:pt idx="56">
                  <c:v>0.58437361410683097</c:v>
                </c:pt>
                <c:pt idx="57">
                  <c:v>0.58510245268588701</c:v>
                </c:pt>
                <c:pt idx="58">
                  <c:v>0.58582471915154799</c:v>
                </c:pt>
                <c:pt idx="59">
                  <c:v>0.586540578256734</c:v>
                </c:pt>
                <c:pt idx="60">
                  <c:v>0.58725018791192996</c:v>
                </c:pt>
                <c:pt idx="61">
                  <c:v>0.58795369957727095</c:v>
                </c:pt>
                <c:pt idx="62">
                  <c:v>0.58865125862616496</c:v>
                </c:pt>
                <c:pt idx="63">
                  <c:v>0.58934300468298595</c:v>
                </c:pt>
                <c:pt idx="64">
                  <c:v>0.59002907193702103</c:v>
                </c:pt>
                <c:pt idx="65">
                  <c:v>0.59070958943471596</c:v>
                </c:pt>
                <c:pt idx="66">
                  <c:v>0.59138468135199596</c:v>
                </c:pt>
                <c:pt idx="67">
                  <c:v>0.592054467248326</c:v>
                </c:pt>
                <c:pt idx="68">
                  <c:v>0.59271906230395999</c:v>
                </c:pt>
                <c:pt idx="69">
                  <c:v>0.59337857754173495</c:v>
                </c:pt>
                <c:pt idx="70">
                  <c:v>0.59403312003461695</c:v>
                </c:pt>
                <c:pt idx="71">
                  <c:v>0.59468279310010697</c:v>
                </c:pt>
                <c:pt idx="72">
                  <c:v>0.59532769648250905</c:v>
                </c:pt>
                <c:pt idx="73">
                  <c:v>0.59596792652396202</c:v>
                </c:pt>
                <c:pt idx="74">
                  <c:v>0.59660357632508998</c:v>
                </c:pt>
                <c:pt idx="75">
                  <c:v>0.59723473589602305</c:v>
                </c:pt>
                <c:pt idx="76">
                  <c:v>0.59786149229847696</c:v>
                </c:pt>
                <c:pt idx="77">
                  <c:v>0.59848392977953901</c:v>
                </c:pt>
                <c:pt idx="78">
                  <c:v>0.59910212989774903</c:v>
                </c:pt>
                <c:pt idx="79">
                  <c:v>0.59971617164199797</c:v>
                </c:pt>
                <c:pt idx="80">
                  <c:v>0.60032613154375403</c:v>
                </c:pt>
                <c:pt idx="81">
                  <c:v>0.60093208378304397</c:v>
                </c:pt>
                <c:pt idx="82">
                  <c:v>0.60153410028864196</c:v>
                </c:pt>
                <c:pt idx="83">
                  <c:v>0.60213225083282695</c:v>
                </c:pt>
                <c:pt idx="84">
                  <c:v>0.60272660312105397</c:v>
                </c:pt>
                <c:pt idx="85">
                  <c:v>0.60331722287691203</c:v>
                </c:pt>
                <c:pt idx="86">
                  <c:v>0.60390417392261098</c:v>
                </c:pt>
                <c:pt idx="87">
                  <c:v>0.60448751825533398</c:v>
                </c:pt>
                <c:pt idx="88">
                  <c:v>0.60506731611967102</c:v>
                </c:pt>
                <c:pt idx="89">
                  <c:v>0.60564362607640398</c:v>
                </c:pt>
                <c:pt idx="90">
                  <c:v>0.60621650506786295</c:v>
                </c:pt>
                <c:pt idx="91">
                  <c:v>0.60678600848003394</c:v>
                </c:pt>
                <c:pt idx="92">
                  <c:v>0.60735219020164999</c:v>
                </c:pt>
                <c:pt idx="93">
                  <c:v>0.60791510268042204</c:v>
                </c:pt>
                <c:pt idx="94">
                  <c:v>0.60847479697657603</c:v>
                </c:pt>
                <c:pt idx="95">
                  <c:v>0.60903132281386196</c:v>
                </c:pt>
                <c:pt idx="96">
                  <c:v>0.60958472862817203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9B-FA40-AC9B-0D681A1FE083}"/>
            </c:ext>
          </c:extLst>
        </c:ser>
        <c:ser>
          <c:idx val="2"/>
          <c:order val="1"/>
          <c:marker>
            <c:symbol val="none"/>
          </c:marker>
          <c:val>
            <c:numRef>
              <c:f>Sheet1!$C$4:$C$100</c:f>
              <c:numCache>
                <c:formatCode>General</c:formatCode>
                <c:ptCount val="97"/>
                <c:pt idx="0">
                  <c:v>0.55000000000000004</c:v>
                </c:pt>
                <c:pt idx="1">
                  <c:v>0.57474999999999998</c:v>
                </c:pt>
                <c:pt idx="2">
                  <c:v>0.59312687500000005</c:v>
                </c:pt>
                <c:pt idx="3">
                  <c:v>0.60828779687500001</c:v>
                </c:pt>
                <c:pt idx="4">
                  <c:v>0.621420945449219</c:v>
                </c:pt>
                <c:pt idx="5">
                  <c:v>0.63312258082884798</c:v>
                </c:pt>
                <c:pt idx="6">
                  <c:v>0.64374181493586102</c:v>
                </c:pt>
                <c:pt idx="7">
                  <c:v>0.65350392514709399</c:v>
                </c:pt>
                <c:pt idx="8">
                  <c:v>0.66256438368689397</c:v>
                </c:pt>
                <c:pt idx="9">
                  <c:v>0.67103591242160798</c:v>
                </c:pt>
                <c:pt idx="10">
                  <c:v>0.67900338519660597</c:v>
                </c:pt>
                <c:pt idx="11">
                  <c:v>0.68653264696897898</c:v>
                </c:pt>
                <c:pt idx="12">
                  <c:v>0.69367603407551803</c:v>
                </c:pt>
                <c:pt idx="13">
                  <c:v>0.70047598910962805</c:v>
                </c:pt>
                <c:pt idx="14">
                  <c:v>0.70696751761183196</c:v>
                </c:pt>
                <c:pt idx="15">
                  <c:v>0.71317991038844297</c:v>
                </c:pt>
                <c:pt idx="16">
                  <c:v>0.71913798333575996</c:v>
                </c:pt>
                <c:pt idx="17">
                  <c:v>0.72486299048837399</c:v>
                </c:pt>
                <c:pt idx="18">
                  <c:v>0.73037330987276605</c:v>
                </c:pt>
                <c:pt idx="19">
                  <c:v>0.73568496774250802</c:v>
                </c:pt>
                <c:pt idx="20">
                  <c:v>0.74081204550127799</c:v>
                </c:pt>
                <c:pt idx="21">
                  <c:v>0.74576699993528806</c:v>
                </c:pt>
                <c:pt idx="22">
                  <c:v>0.75056091835019301</c:v>
                </c:pt>
                <c:pt idx="23">
                  <c:v>0.75520372411941195</c:v>
                </c:pt>
                <c:pt idx="24">
                  <c:v>0.75970434396194797</c:v>
                </c:pt>
                <c:pt idx="25">
                  <c:v>0.76407084533317604</c:v>
                </c:pt>
                <c:pt idx="26">
                  <c:v>0.76831055022227801</c:v>
                </c:pt>
                <c:pt idx="27">
                  <c:v>0.772430130139523</c:v>
                </c:pt>
                <c:pt idx="28">
                  <c:v>0.77643568596977097</c:v>
                </c:pt>
                <c:pt idx="29">
                  <c:v>0.78033281554737399</c:v>
                </c:pt>
                <c:pt idx="30">
                  <c:v>0.78412667119117097</c:v>
                </c:pt>
                <c:pt idx="31">
                  <c:v>0.78782200897066801</c:v>
                </c:pt>
                <c:pt idx="32">
                  <c:v>0.79142323111609503</c:v>
                </c:pt>
                <c:pt idx="33">
                  <c:v>0.79493442270788495</c:v>
                </c:pt>
                <c:pt idx="34">
                  <c:v>0.79835938356499503</c:v>
                </c:pt>
                <c:pt idx="35">
                  <c:v>0.80170165608141197</c:v>
                </c:pt>
                <c:pt idx="36">
                  <c:v>0.80496454962556396</c:v>
                </c:pt>
                <c:pt idx="37">
                  <c:v>0.80815116200983195</c:v>
                </c:pt>
                <c:pt idx="38">
                  <c:v>0.81126439845104104</c:v>
                </c:pt>
                <c:pt idx="39">
                  <c:v>0.81430698837300797</c:v>
                </c:pt>
                <c:pt idx="40">
                  <c:v>0.81728150034546998</c:v>
                </c:pt>
                <c:pt idx="41">
                  <c:v>0.82019035540732099</c:v>
                </c:pt>
                <c:pt idx="42">
                  <c:v>0.82303583898389598</c:v>
                </c:pt>
                <c:pt idx="43">
                  <c:v>0.82582011157655699</c:v>
                </c:pt>
                <c:pt idx="44">
                  <c:v>0.82854521837662298</c:v>
                </c:pt>
                <c:pt idx="45">
                  <c:v>0.83121309793388698</c:v>
                </c:pt>
                <c:pt idx="46">
                  <c:v>0.83382558999164802</c:v>
                </c:pt>
                <c:pt idx="47">
                  <c:v>0.83638444258481903</c:v>
                </c:pt>
                <c:pt idx="48">
                  <c:v>0.83889131848469001</c:v>
                </c:pt>
                <c:pt idx="49">
                  <c:v>0.84134780106290097</c:v>
                </c:pt>
                <c:pt idx="50">
                  <c:v>0.84375539963780599</c:v>
                </c:pt>
                <c:pt idx="51">
                  <c:v>0.84611555435844099</c:v>
                </c:pt>
                <c:pt idx="52">
                  <c:v>0.84842964067443205</c:v>
                </c:pt>
                <c:pt idx="53">
                  <c:v>0.850698973434312</c:v>
                </c:pt>
                <c:pt idx="54">
                  <c:v>0.852924810649628</c:v>
                </c:pt>
                <c:pt idx="55">
                  <c:v>0.85510835695785303</c:v>
                </c:pt>
                <c:pt idx="56">
                  <c:v>0.85725076681330703</c:v>
                </c:pt>
                <c:pt idx="57">
                  <c:v>0.85935314743198699</c:v>
                </c:pt>
                <c:pt idx="58">
                  <c:v>0.86141656151333901</c:v>
                </c:pt>
                <c:pt idx="59">
                  <c:v>0.86344202975946605</c:v>
                </c:pt>
                <c:pt idx="60">
                  <c:v>0.86543053321010099</c:v>
                </c:pt>
                <c:pt idx="61">
                  <c:v>0.86738301540970397</c:v>
                </c:pt>
                <c:pt idx="62">
                  <c:v>0.86930038442136304</c:v>
                </c:pt>
                <c:pt idx="63">
                  <c:v>0.87118351470067001</c:v>
                </c:pt>
                <c:pt idx="64">
                  <c:v>0.87303324884143096</c:v>
                </c:pt>
                <c:pt idx="65">
                  <c:v>0.87485039920386598</c:v>
                </c:pt>
                <c:pt idx="66">
                  <c:v>0.87663574943495803</c:v>
                </c:pt>
                <c:pt idx="67">
                  <c:v>0.87839005588964403</c:v>
                </c:pt>
                <c:pt idx="68">
                  <c:v>0.88011404896073797</c:v>
                </c:pt>
                <c:pt idx="69">
                  <c:v>0.88180843432474099</c:v>
                </c:pt>
                <c:pt idx="70">
                  <c:v>0.88347389411002997</c:v>
                </c:pt>
                <c:pt idx="71">
                  <c:v>0.88511108799333005</c:v>
                </c:pt>
                <c:pt idx="72">
                  <c:v>0.88672065422984903</c:v>
                </c:pt>
                <c:pt idx="73">
                  <c:v>0.88830321062198803</c:v>
                </c:pt>
                <c:pt idx="74">
                  <c:v>0.88985935543109596</c:v>
                </c:pt>
                <c:pt idx="75">
                  <c:v>0.891389668236372</c:v>
                </c:pt>
                <c:pt idx="76">
                  <c:v>0.89289471074466698</c:v>
                </c:pt>
                <c:pt idx="77">
                  <c:v>0.89437502755461196</c:v>
                </c:pt>
                <c:pt idx="78">
                  <c:v>0.89583114687823995</c:v>
                </c:pt>
                <c:pt idx="79">
                  <c:v>0.89726358122299599</c:v>
                </c:pt>
                <c:pt idx="80">
                  <c:v>0.89867282803679605</c:v>
                </c:pt>
                <c:pt idx="81">
                  <c:v>0.90005937031859695</c:v>
                </c:pt>
                <c:pt idx="82">
                  <c:v>0.901423677196732</c:v>
                </c:pt>
                <c:pt idx="83">
                  <c:v>0.90276620447711398</c:v>
                </c:pt>
                <c:pt idx="84">
                  <c:v>0.90408739516321801</c:v>
                </c:pt>
                <c:pt idx="85">
                  <c:v>0.90538767994964198</c:v>
                </c:pt>
                <c:pt idx="86">
                  <c:v>0.90666747769088396</c:v>
                </c:pt>
                <c:pt idx="87">
                  <c:v>0.90792719584687598</c:v>
                </c:pt>
                <c:pt idx="88">
                  <c:v>0.90916723090668095</c:v>
                </c:pt>
                <c:pt idx="89">
                  <c:v>0.91038796879167805</c:v>
                </c:pt>
                <c:pt idx="90">
                  <c:v>0.91158978523945899</c:v>
                </c:pt>
                <c:pt idx="91">
                  <c:v>0.91277304616955601</c:v>
                </c:pt>
                <c:pt idx="92">
                  <c:v>0.91393810803208697</c:v>
                </c:pt>
                <c:pt idx="93">
                  <c:v>0.91508531814027305</c:v>
                </c:pt>
                <c:pt idx="94">
                  <c:v>0.91621501498776503</c:v>
                </c:pt>
                <c:pt idx="95">
                  <c:v>0.91732752855162902</c:v>
                </c:pt>
                <c:pt idx="96">
                  <c:v>0.91842318058179095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9B-FA40-AC9B-0D681A1FE083}"/>
            </c:ext>
          </c:extLst>
        </c:ser>
        <c:ser>
          <c:idx val="3"/>
          <c:order val="2"/>
          <c:marker>
            <c:symbol val="none"/>
          </c:marker>
          <c:val>
            <c:numRef>
              <c:f>Sheet1!$D$4:$D$100</c:f>
              <c:numCache>
                <c:formatCode>General</c:formatCode>
                <c:ptCount val="97"/>
                <c:pt idx="0">
                  <c:v>0.6</c:v>
                </c:pt>
                <c:pt idx="1">
                  <c:v>0.64800000000000002</c:v>
                </c:pt>
                <c:pt idx="2">
                  <c:v>0.68255999999999994</c:v>
                </c:pt>
                <c:pt idx="3">
                  <c:v>0.71020799999999995</c:v>
                </c:pt>
                <c:pt idx="4">
                  <c:v>0.73343232000000003</c:v>
                </c:pt>
                <c:pt idx="5">
                  <c:v>0.75349813247999997</c:v>
                </c:pt>
                <c:pt idx="6">
                  <c:v>0.77115604746239996</c:v>
                </c:pt>
                <c:pt idx="7">
                  <c:v>0.78689681738956796</c:v>
                </c:pt>
                <c:pt idx="8">
                  <c:v>0.80106351032401901</c:v>
                </c:pt>
                <c:pt idx="9">
                  <c:v>0.81390797858458797</c:v>
                </c:pt>
                <c:pt idx="10">
                  <c:v>0.82562213363822701</c:v>
                </c:pt>
                <c:pt idx="11">
                  <c:v>0.836356559360107</c:v>
                </c:pt>
                <c:pt idx="12">
                  <c:v>0.84623223102423695</c:v>
                </c:pt>
                <c:pt idx="13">
                  <c:v>0.85534823563728002</c:v>
                </c:pt>
                <c:pt idx="14">
                  <c:v>0.86378705133621103</c:v>
                </c:pt>
                <c:pt idx="15">
                  <c:v>0.87161827230481903</c:v>
                </c:pt>
                <c:pt idx="16">
                  <c:v>0.87890130780562403</c:v>
                </c:pt>
                <c:pt idx="17">
                  <c:v>0.88568738323696306</c:v>
                </c:pt>
                <c:pt idx="18">
                  <c:v>0.89202105363954598</c:v>
                </c:pt>
                <c:pt idx="19">
                  <c:v>0.89794136871059205</c:v>
                </c:pt>
                <c:pt idx="20">
                  <c:v>0.90348278361709</c:v>
                </c:pt>
                <c:pt idx="21">
                  <c:v>0.90867588101518104</c:v>
                </c:pt>
                <c:pt idx="22">
                  <c:v>0.91354795057411697</c:v>
                </c:pt>
                <c:pt idx="23">
                  <c:v>0.91812345937729101</c:v>
                </c:pt>
                <c:pt idx="24">
                  <c:v>0.922424437652275</c:v>
                </c:pt>
                <c:pt idx="25">
                  <c:v>0.92647079801337995</c:v>
                </c:pt>
                <c:pt idx="26">
                  <c:v>0.93028060192260498</c:v>
                </c:pt>
                <c:pt idx="27">
                  <c:v>0.93387028382818604</c:v>
                </c:pt>
                <c:pt idx="28">
                  <c:v>0.93725484105344803</c:v>
                </c:pt>
                <c:pt idx="29">
                  <c:v>0.94044799573217697</c:v>
                </c:pt>
                <c:pt idx="30">
                  <c:v>0.94346233374889898</c:v>
                </c:pt>
                <c:pt idx="31">
                  <c:v>0.94630942462404599</c:v>
                </c:pt>
                <c:pt idx="32">
                  <c:v>0.94899992550106105</c:v>
                </c:pt>
                <c:pt idx="33">
                  <c:v>0.95154367178478505</c:v>
                </c:pt>
                <c:pt idx="34">
                  <c:v>0.95394975650491798</c:v>
                </c:pt>
                <c:pt idx="35">
                  <c:v>0.95622660010294203</c:v>
                </c:pt>
                <c:pt idx="36">
                  <c:v>0.95838201204240403</c:v>
                </c:pt>
                <c:pt idx="37">
                  <c:v>0.96042324540345103</c:v>
                </c:pt>
                <c:pt idx="38">
                  <c:v>0.96235704542970701</c:v>
                </c:pt>
                <c:pt idx="39">
                  <c:v>0.96418969283920397</c:v>
                </c:pt>
                <c:pt idx="40">
                  <c:v>0.965927042583408</c:v>
                </c:pt>
                <c:pt idx="41">
                  <c:v>0.96757455863352104</c:v>
                </c:pt>
                <c:pt idx="42">
                  <c:v>0.96913734528677098</c:v>
                </c:pt>
                <c:pt idx="43">
                  <c:v>0.97062017541357604</c:v>
                </c:pt>
                <c:pt idx="44">
                  <c:v>0.97202751600665205</c:v>
                </c:pt>
                <c:pt idx="45">
                  <c:v>0.973363551343013</c:v>
                </c:pt>
                <c:pt idx="46">
                  <c:v>0.97463220402762696</c:v>
                </c:pt>
                <c:pt idx="47">
                  <c:v>0.97583715415190697</c:v>
                </c:pt>
                <c:pt idx="48">
                  <c:v>0.97698185676997296</c:v>
                </c:pt>
                <c:pt idx="49">
                  <c:v>0.97806955786991501</c:v>
                </c:pt>
                <c:pt idx="50">
                  <c:v>0.97910330899529896</c:v>
                </c:pt>
                <c:pt idx="51">
                  <c:v>0.98008598065331198</c:v>
                </c:pt>
                <c:pt idx="52">
                  <c:v>0.98102027462969998</c:v>
                </c:pt>
                <c:pt idx="53">
                  <c:v>0.98190873531667999</c:v>
                </c:pt>
                <c:pt idx="54">
                  <c:v>0.98275376014785198</c:v>
                </c:pt>
                <c:pt idx="55">
                  <c:v>0.98355760922361402</c:v>
                </c:pt>
                <c:pt idx="56">
                  <c:v>0.98432241420140998</c:v>
                </c:pt>
                <c:pt idx="57">
                  <c:v>0.98505018651712395</c:v>
                </c:pt>
                <c:pt idx="58">
                  <c:v>0.98574282499690702</c:v>
                </c:pt>
                <c:pt idx="59">
                  <c:v>0.98640212291257801</c:v>
                </c:pt>
                <c:pt idx="60">
                  <c:v>0.98702977452829699</c:v>
                </c:pt>
                <c:pt idx="61">
                  <c:v>0.98762738118142801</c:v>
                </c:pt>
                <c:pt idx="62">
                  <c:v>0.988196456936279</c:v>
                </c:pt>
                <c:pt idx="63">
                  <c:v>0.98873843384566196</c:v>
                </c:pt>
                <c:pt idx="64">
                  <c:v>0.98925466685184904</c:v>
                </c:pt>
                <c:pt idx="65">
                  <c:v>0.98974643835558995</c:v>
                </c:pt>
                <c:pt idx="66">
                  <c:v>0.99021496247915297</c:v>
                </c:pt>
                <c:pt idx="67">
                  <c:v>0.99066138904703804</c:v>
                </c:pt>
                <c:pt idx="68">
                  <c:v>0.99108680730584497</c:v>
                </c:pt>
                <c:pt idx="69">
                  <c:v>0.99149224940293501</c:v>
                </c:pt>
                <c:pt idx="70">
                  <c:v>0.99187869364176195</c:v>
                </c:pt>
                <c:pt idx="71">
                  <c:v>0.99224706753026504</c:v>
                </c:pt>
                <c:pt idx="72">
                  <c:v>0.992598250637306</c:v>
                </c:pt>
                <c:pt idx="73">
                  <c:v>0.99293307727086699</c:v>
                </c:pt>
                <c:pt idx="74">
                  <c:v>0.99325233899065302</c:v>
                </c:pt>
                <c:pt idx="75">
                  <c:v>0.99355678696663996</c:v>
                </c:pt>
                <c:pt idx="76">
                  <c:v>0.99384713419426496</c:v>
                </c:pt>
                <c:pt idx="77">
                  <c:v>0.99412405757604205</c:v>
                </c:pt>
                <c:pt idx="78">
                  <c:v>0.99438819987866101</c:v>
                </c:pt>
                <c:pt idx="79">
                  <c:v>0.99464017157391704</c:v>
                </c:pt>
                <c:pt idx="80">
                  <c:v>0.99488055257119301</c:v>
                </c:pt>
                <c:pt idx="81">
                  <c:v>0.99510989384859305</c:v>
                </c:pt>
                <c:pt idx="82">
                  <c:v>0.99532871898937103</c:v>
                </c:pt>
                <c:pt idx="83">
                  <c:v>0.99553752562972797</c:v>
                </c:pt>
                <c:pt idx="84">
                  <c:v>0.99573678682366795</c:v>
                </c:pt>
                <c:pt idx="85">
                  <c:v>0.99592695233016804</c:v>
                </c:pt>
                <c:pt idx="86">
                  <c:v>0.99610844982753399</c:v>
                </c:pt>
                <c:pt idx="87">
                  <c:v>0.99628168605950196</c:v>
                </c:pt>
                <c:pt idx="88">
                  <c:v>0.996447047917291</c:v>
                </c:pt>
                <c:pt idx="89">
                  <c:v>0.99660490346153396</c:v>
                </c:pt>
                <c:pt idx="90">
                  <c:v>0.99675560288777199</c:v>
                </c:pt>
                <c:pt idx="91">
                  <c:v>0.99689947943888901</c:v>
                </c:pt>
                <c:pt idx="92">
                  <c:v>0.99703685026769295</c:v>
                </c:pt>
                <c:pt idx="93">
                  <c:v>0.99716801725261595</c:v>
                </c:pt>
                <c:pt idx="94">
                  <c:v>0.99729326776928295</c:v>
                </c:pt>
                <c:pt idx="95">
                  <c:v>0.997412875420568</c:v>
                </c:pt>
                <c:pt idx="96">
                  <c:v>0.99752710072754502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19B-FA40-AC9B-0D681A1FE083}"/>
            </c:ext>
          </c:extLst>
        </c:ser>
        <c:ser>
          <c:idx val="4"/>
          <c:order val="3"/>
          <c:marker>
            <c:symbol val="none"/>
          </c:marker>
          <c:val>
            <c:numRef>
              <c:f>Sheet1!$E$4:$E$100</c:f>
              <c:numCache>
                <c:formatCode>General</c:formatCode>
                <c:ptCount val="97"/>
                <c:pt idx="0">
                  <c:v>0.65</c:v>
                </c:pt>
                <c:pt idx="1">
                  <c:v>0.71825000000000006</c:v>
                </c:pt>
                <c:pt idx="2">
                  <c:v>0.76483062499999999</c:v>
                </c:pt>
                <c:pt idx="3">
                  <c:v>0.80015426562500003</c:v>
                </c:pt>
                <c:pt idx="4">
                  <c:v>0.82828071447265605</c:v>
                </c:pt>
                <c:pt idx="5">
                  <c:v>0.85131627607888705</c:v>
                </c:pt>
                <c:pt idx="6">
                  <c:v>0.87053177371875101</c:v>
                </c:pt>
                <c:pt idx="7">
                  <c:v>0.88676886922443598</c:v>
                </c:pt>
                <c:pt idx="8">
                  <c:v>0.90062114132772297</c:v>
                </c:pt>
                <c:pt idx="9">
                  <c:v>0.91252639962982596</c:v>
                </c:pt>
                <c:pt idx="10">
                  <c:v>0.92281849543199501</c:v>
                </c:pt>
                <c:pt idx="11">
                  <c:v>0.93175858410378698</c:v>
                </c:pt>
                <c:pt idx="12">
                  <c:v>0.93955508643298002</c:v>
                </c:pt>
                <c:pt idx="13">
                  <c:v>0.94637702597102302</c:v>
                </c:pt>
                <c:pt idx="14">
                  <c:v>0.952363277915656</c:v>
                </c:pt>
                <c:pt idx="15">
                  <c:v>0.95762918420961796</c:v>
                </c:pt>
                <c:pt idx="16">
                  <c:v>0.96227140972688896</c:v>
                </c:pt>
                <c:pt idx="17">
                  <c:v>0.966371587146996</c:v>
                </c:pt>
                <c:pt idx="18">
                  <c:v>0.96999910522561905</c:v>
                </c:pt>
                <c:pt idx="19">
                  <c:v>0.97321327716528305</c:v>
                </c:pt>
                <c:pt idx="20">
                  <c:v>0.97606505121874998</c:v>
                </c:pt>
                <c:pt idx="21">
                  <c:v>0.97859837716957998</c:v>
                </c:pt>
                <c:pt idx="22">
                  <c:v>0.98085130999812398</c:v>
                </c:pt>
                <c:pt idx="23">
                  <c:v>0.98285690998353503</c:v>
                </c:pt>
                <c:pt idx="24">
                  <c:v>0.98464398313720203</c:v>
                </c:pt>
                <c:pt idx="25">
                  <c:v>0.98623769497564295</c:v>
                </c:pt>
                <c:pt idx="26">
                  <c:v>0.98766008279145101</c:v>
                </c:pt>
                <c:pt idx="27">
                  <c:v>0.98893048583508802</c:v>
                </c:pt>
                <c:pt idx="28">
                  <c:v>0.99006590855533905</c:v>
                </c:pt>
                <c:pt idx="29">
                  <c:v>0.99108132883981204</c:v>
                </c:pt>
                <c:pt idx="30">
                  <c:v>0.99198996075770096</c:v>
                </c:pt>
                <c:pt idx="31">
                  <c:v>0.992803479431282</c:v>
                </c:pt>
                <c:pt idx="32">
                  <c:v>0.99353221420560101</c:v>
                </c:pt>
                <c:pt idx="33">
                  <c:v>0.99418531514349395</c:v>
                </c:pt>
                <c:pt idx="34">
                  <c:v>0.99477089696971899</c:v>
                </c:pt>
                <c:pt idx="35">
                  <c:v>0.99529616386784403</c:v>
                </c:pt>
                <c:pt idx="36">
                  <c:v>0.99576751795517504</c:v>
                </c:pt>
                <c:pt idx="37">
                  <c:v>0.99619065379330196</c:v>
                </c:pt>
                <c:pt idx="38">
                  <c:v>0.99657064091109304</c:v>
                </c:pt>
                <c:pt idx="39">
                  <c:v>0.99691199600524305</c:v>
                </c:pt>
                <c:pt idx="40">
                  <c:v>0.99721874622672302</c:v>
                </c:pt>
                <c:pt idx="41">
                  <c:v>0.99749448474898195</c:v>
                </c:pt>
                <c:pt idx="42">
                  <c:v>0.99774241963691401</c:v>
                </c:pt>
                <c:pt idx="43">
                  <c:v>0.997965416887862</c:v>
                </c:pt>
                <c:pt idx="44">
                  <c:v>0.99816603839192497</c:v>
                </c:pt>
                <c:pt idx="45">
                  <c:v>0.99834657545430405</c:v>
                </c:pt>
                <c:pt idx="46">
                  <c:v>0.99850907843403802</c:v>
                </c:pt>
                <c:pt idx="47">
                  <c:v>0.99865538297845202</c:v>
                </c:pt>
                <c:pt idx="48">
                  <c:v>0.99878713326870805</c:v>
                </c:pt>
                <c:pt idx="49">
                  <c:v>0.99890580263728901</c:v>
                </c:pt>
                <c:pt idx="50">
                  <c:v>0.99901271187144403</c:v>
                </c:pt>
                <c:pt idx="51">
                  <c:v>0.99910904547645496</c:v>
                </c:pt>
                <c:pt idx="52">
                  <c:v>0.99919586613797096</c:v>
                </c:pt>
                <c:pt idx="53">
                  <c:v>0.99927412759276202</c:v>
                </c:pt>
                <c:pt idx="54">
                  <c:v>0.99934468609140203</c:v>
                </c:pt>
                <c:pt idx="55">
                  <c:v>0.99940831061394697</c:v>
                </c:pt>
                <c:pt idx="56">
                  <c:v>0.99946569198021795</c:v>
                </c:pt>
                <c:pt idx="57">
                  <c:v>0.99951745097928502</c:v>
                </c:pt>
                <c:pt idx="58">
                  <c:v>0.99956414562801199</c:v>
                </c:pt>
                <c:pt idx="59">
                  <c:v>0.99960627765555399</c:v>
                </c:pt>
                <c:pt idx="60">
                  <c:v>0.99964429829940904</c:v>
                </c:pt>
                <c:pt idx="61">
                  <c:v>0.99967861348871101</c:v>
                </c:pt>
                <c:pt idx="62">
                  <c:v>0.99970958848176406</c:v>
                </c:pt>
                <c:pt idx="63">
                  <c:v>0.99973755201715897</c:v>
                </c:pt>
                <c:pt idx="64">
                  <c:v>0.99976280003110896</c:v>
                </c:pt>
                <c:pt idx="65">
                  <c:v>0.99978559898770603</c:v>
                </c:pt>
                <c:pt idx="66">
                  <c:v>0.99980618886358397</c:v>
                </c:pt>
                <c:pt idx="67">
                  <c:v>0.99982478582386403</c:v>
                </c:pt>
                <c:pt idx="68">
                  <c:v>0.99984158462217498</c:v>
                </c:pt>
                <c:pt idx="69">
                  <c:v>0.99985676075395502</c:v>
                </c:pt>
                <c:pt idx="70">
                  <c:v>0.99987047238901705</c:v>
                </c:pt>
                <c:pt idx="71">
                  <c:v>0.99988286210658694</c:v>
                </c:pt>
                <c:pt idx="72">
                  <c:v>0.99989405845344304</c:v>
                </c:pt>
                <c:pt idx="73">
                  <c:v>0.99990417734363302</c:v>
                </c:pt>
                <c:pt idx="74">
                  <c:v>0.99991332331620497</c:v>
                </c:pt>
                <c:pt idx="75">
                  <c:v>0.99992159066567898</c:v>
                </c:pt>
                <c:pt idx="76">
                  <c:v>0.99992906445838403</c:v>
                </c:pt>
                <c:pt idx="77">
                  <c:v>0.99993582144642501</c:v>
                </c:pt>
                <c:pt idx="78">
                  <c:v>0.99994193088977901</c:v>
                </c:pt>
                <c:pt idx="79">
                  <c:v>0.99994745529593099</c:v>
                </c:pt>
                <c:pt idx="80">
                  <c:v>0.99995245108546904</c:v>
                </c:pt>
                <c:pt idx="81">
                  <c:v>0.99995696919118005</c:v>
                </c:pt>
                <c:pt idx="82">
                  <c:v>0.99996105559740001</c:v>
                </c:pt>
                <c:pt idx="83">
                  <c:v>0.99996475182567701</c:v>
                </c:pt>
                <c:pt idx="84">
                  <c:v>0.99996809537217302</c:v>
                </c:pt>
                <c:pt idx="85">
                  <c:v>0.99997112010167599</c:v>
                </c:pt>
                <c:pt idx="86">
                  <c:v>0.99997385660259497</c:v>
                </c:pt>
                <c:pt idx="87">
                  <c:v>0.99997633250684603</c:v>
                </c:pt>
                <c:pt idx="88">
                  <c:v>0.99997857277816404</c:v>
                </c:pt>
                <c:pt idx="89">
                  <c:v>0.99998059997198996</c:v>
                </c:pt>
                <c:pt idx="90">
                  <c:v>0.99998243446978197</c:v>
                </c:pt>
                <c:pt idx="91">
                  <c:v>0.99998409469028304</c:v>
                </c:pt>
                <c:pt idx="92">
                  <c:v>0.99998559728006597</c:v>
                </c:pt>
                <c:pt idx="93">
                  <c:v>0.999986957285388</c:v>
                </c:pt>
                <c:pt idx="94">
                  <c:v>0.99998818830722702</c:v>
                </c:pt>
                <c:pt idx="95">
                  <c:v>0.99998930264115304</c:v>
                </c:pt>
                <c:pt idx="96">
                  <c:v>0.99999031140354799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19B-FA40-AC9B-0D681A1FE0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34421592"/>
        <c:axId val="2135183256"/>
      </c:lineChart>
      <c:catAx>
        <c:axId val="2134421592"/>
        <c:scaling>
          <c:orientation val="minMax"/>
        </c:scaling>
        <c:delete val="0"/>
        <c:axPos val="b"/>
        <c:majorTickMark val="none"/>
        <c:minorTickMark val="none"/>
        <c:tickLblPos val="nextTo"/>
        <c:crossAx val="2135183256"/>
        <c:crosses val="autoZero"/>
        <c:auto val="1"/>
        <c:lblAlgn val="ctr"/>
        <c:lblOffset val="100"/>
        <c:noMultiLvlLbl val="0"/>
      </c:catAx>
      <c:valAx>
        <c:axId val="2135183256"/>
        <c:scaling>
          <c:orientation val="minMax"/>
          <c:max val="1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Probability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213442159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AEB7C-FA64-044A-A910-2ED726AD2AA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CCA12-AC85-3B4D-9F27-89AD580AB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4087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28B67E-F3AA-B740-9A90-6D5EC8DA4036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75825-EA71-8D4D-BB5C-93EEF1B0B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452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75825-EA71-8D4D-BB5C-93EEF1B0BA5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8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113F-801F-7A45-BC4E-A45EF8A91E9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A8C1-0E42-944F-8998-F639D49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57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113F-801F-7A45-BC4E-A45EF8A91E9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A8C1-0E42-944F-8998-F639D49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45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113F-801F-7A45-BC4E-A45EF8A91E9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A8C1-0E42-944F-8998-F639D49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49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113F-801F-7A45-BC4E-A45EF8A91E9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A8C1-0E42-944F-8998-F639D49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6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113F-801F-7A45-BC4E-A45EF8A91E9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A8C1-0E42-944F-8998-F639D49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835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113F-801F-7A45-BC4E-A45EF8A91E9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A8C1-0E42-944F-8998-F639D49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47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113F-801F-7A45-BC4E-A45EF8A91E9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A8C1-0E42-944F-8998-F639D49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13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113F-801F-7A45-BC4E-A45EF8A91E9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A8C1-0E42-944F-8998-F639D49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837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113F-801F-7A45-BC4E-A45EF8A91E9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A8C1-0E42-944F-8998-F639D49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2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113F-801F-7A45-BC4E-A45EF8A91E9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A8C1-0E42-944F-8998-F639D49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7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113F-801F-7A45-BC4E-A45EF8A91E9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A8C1-0E42-944F-8998-F639D49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54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7113F-801F-7A45-BC4E-A45EF8A91E9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AA8C1-0E42-944F-8998-F639D49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45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7.emf"/><Relationship Id="rId3" Type="http://schemas.openxmlformats.org/officeDocument/2006/relationships/image" Target="../media/image1.emf"/><Relationship Id="rId7" Type="http://schemas.openxmlformats.org/officeDocument/2006/relationships/image" Target="../media/image4.e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emf"/><Relationship Id="rId5" Type="http://schemas.openxmlformats.org/officeDocument/2006/relationships/image" Target="../media/image3.emf"/><Relationship Id="rId15" Type="http://schemas.openxmlformats.org/officeDocument/2006/relationships/image" Target="../media/image8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emf"/><Relationship Id="rId14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8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ECON 4402</a:t>
            </a:r>
            <a:br>
              <a:rPr lang="en-US" dirty="0"/>
            </a:br>
            <a:r>
              <a:rPr lang="en-US" dirty="0"/>
              <a:t>Seminar on Elections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599" y="3886200"/>
            <a:ext cx="8119533" cy="17526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Meeting #6: Information 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2857" y="354390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877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2213"/>
            <a:ext cx="8229600" cy="4525963"/>
          </a:xfrm>
        </p:spPr>
        <p:txBody>
          <a:bodyPr/>
          <a:lstStyle/>
          <a:p>
            <a:r>
              <a:rPr lang="en-US" dirty="0"/>
              <a:t>(Non-strategic) Information aggregation</a:t>
            </a:r>
          </a:p>
          <a:p>
            <a:r>
              <a:rPr lang="en-US" dirty="0"/>
              <a:t>Bayes Rule applications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553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543"/>
            <a:ext cx="8229600" cy="1143000"/>
          </a:xfrm>
        </p:spPr>
        <p:txBody>
          <a:bodyPr/>
          <a:lstStyle/>
          <a:p>
            <a:r>
              <a:rPr lang="en-US" dirty="0"/>
              <a:t>Information 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1544"/>
            <a:ext cx="8229600" cy="4974620"/>
          </a:xfrm>
        </p:spPr>
        <p:txBody>
          <a:bodyPr>
            <a:normAutofit/>
          </a:bodyPr>
          <a:lstStyle/>
          <a:p>
            <a:r>
              <a:rPr lang="en-US" sz="2800" dirty="0"/>
              <a:t>In some contexts, voting/elections are used even when there are no fundamental preference conflicts </a:t>
            </a:r>
          </a:p>
          <a:p>
            <a:pPr lvl="1"/>
            <a:r>
              <a:rPr lang="en-US" sz="2400" dirty="0"/>
              <a:t>Canonical example: juries or other committees</a:t>
            </a:r>
          </a:p>
          <a:p>
            <a:endParaRPr lang="en-US" sz="2400" dirty="0"/>
          </a:p>
          <a:p>
            <a:r>
              <a:rPr lang="en-US" sz="2800" dirty="0" err="1"/>
              <a:t>Grofman</a:t>
            </a:r>
            <a:r>
              <a:rPr lang="en-US" sz="2800" dirty="0"/>
              <a:t> and Feld’s interpretation of Rousseau’s “Theory of General Will”:</a:t>
            </a:r>
          </a:p>
          <a:p>
            <a:pPr lvl="1"/>
            <a:r>
              <a:rPr lang="en-US" sz="2400" dirty="0"/>
              <a:t>There is some true common good</a:t>
            </a:r>
          </a:p>
          <a:p>
            <a:pPr lvl="1"/>
            <a:r>
              <a:rPr lang="en-US" sz="2400" dirty="0"/>
              <a:t>Individuals are not always accurate in their judgments about what will achieve the common good</a:t>
            </a:r>
          </a:p>
          <a:p>
            <a:pPr lvl="1"/>
            <a:r>
              <a:rPr lang="en-US" sz="2400" dirty="0"/>
              <a:t>Voting is a mechanism that allows society to aggregate well all individuals’ fallible opinions</a:t>
            </a:r>
          </a:p>
        </p:txBody>
      </p:sp>
    </p:spTree>
    <p:extLst>
      <p:ext uri="{BB962C8B-B14F-4D97-AF65-F5344CB8AC3E}">
        <p14:creationId xmlns:p14="http://schemas.microsoft.com/office/powerpoint/2010/main" val="262320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Rule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5366"/>
            <a:ext cx="8229600" cy="5257996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We are interested in probability of an 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event</a:t>
            </a:r>
            <a:r>
              <a:rPr lang="en-US" sz="2800" dirty="0"/>
              <a:t> </a:t>
            </a:r>
          </a:p>
          <a:p>
            <a:pPr lvl="1"/>
            <a:r>
              <a:rPr lang="en-US" sz="2400" dirty="0"/>
              <a:t>how likely is it that it will snow tomorrow?</a:t>
            </a:r>
          </a:p>
          <a:p>
            <a:pPr lvl="1"/>
            <a:endParaRPr lang="en-US" sz="2400" dirty="0"/>
          </a:p>
          <a:p>
            <a:r>
              <a:rPr lang="en-US" sz="2800" dirty="0"/>
              <a:t>Often, interested in the probability of an event </a:t>
            </a:r>
            <a:r>
              <a:rPr lang="en-US" sz="2800" dirty="0">
                <a:solidFill>
                  <a:srgbClr val="FF0000"/>
                </a:solidFill>
              </a:rPr>
              <a:t>given </a:t>
            </a:r>
            <a:r>
              <a:rPr lang="en-US" sz="2800" dirty="0"/>
              <a:t>that some other event has occurred</a:t>
            </a:r>
          </a:p>
          <a:p>
            <a:pPr lvl="1"/>
            <a:r>
              <a:rPr lang="en-US" sz="2400" dirty="0"/>
              <a:t>given that it is not snowing today, how likely is it that it will not snow tomorrow?</a:t>
            </a:r>
          </a:p>
          <a:p>
            <a:pPr lvl="1"/>
            <a:r>
              <a:rPr lang="en-US" sz="2400" dirty="0"/>
              <a:t>given that you got an A on the midterm, how likely is it that you will get an A for the course?</a:t>
            </a:r>
          </a:p>
          <a:p>
            <a:pPr lvl="1"/>
            <a:endParaRPr lang="en-US" sz="2400" dirty="0"/>
          </a:p>
          <a:p>
            <a:r>
              <a:rPr lang="en-US" sz="2800" dirty="0">
                <a:solidFill>
                  <a:srgbClr val="0000FF"/>
                </a:solidFill>
              </a:rPr>
              <a:t>Bayes Rule</a:t>
            </a:r>
            <a:r>
              <a:rPr lang="en-US" sz="2800" dirty="0"/>
              <a:t> is a mathematical formula that prescribes/describes how to perform such reasoning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23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Bayes Rule (2)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994" y="1040486"/>
            <a:ext cx="4642012" cy="27950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931003"/>
            <a:ext cx="8494776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2400" dirty="0"/>
              <a:t>Rectangle is </a:t>
            </a:r>
            <a:r>
              <a:rPr lang="en-US" sz="2400" dirty="0">
                <a:solidFill>
                  <a:srgbClr val="0000FF"/>
                </a:solidFill>
              </a:rPr>
              <a:t>sample space</a:t>
            </a:r>
            <a:r>
              <a:rPr lang="en-US" sz="2400" dirty="0"/>
              <a:t> of all possible (random) outcomes</a:t>
            </a:r>
          </a:p>
          <a:p>
            <a:pPr marL="800100" lvl="1" indent="-34290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sz="2000" dirty="0"/>
              <a:t>If outcomes are finite [which we will generally assume], a probability mass function describes the probability of each outcome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lang="en-US" sz="2400" dirty="0"/>
              <a:t>Two events: </a:t>
            </a:r>
            <a:r>
              <a:rPr lang="en-US" sz="2400" dirty="0">
                <a:solidFill>
                  <a:srgbClr val="0000FF"/>
                </a:solidFill>
              </a:rPr>
              <a:t>A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0000FF"/>
                </a:solidFill>
              </a:rPr>
              <a:t>B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lang="en-US" sz="2400" dirty="0"/>
              <a:t>Suppose you know that B is true/has occurred; what is the </a:t>
            </a:r>
            <a:r>
              <a:rPr lang="en-US" sz="2400" dirty="0">
                <a:solidFill>
                  <a:srgbClr val="FF0000"/>
                </a:solidFill>
              </a:rPr>
              <a:t>conditional probability</a:t>
            </a:r>
            <a:r>
              <a:rPr lang="en-US" sz="2400" dirty="0"/>
              <a:t> that A has occurred?  We write this as </a:t>
            </a:r>
            <a:r>
              <a:rPr lang="en-US" sz="2400" dirty="0" err="1">
                <a:solidFill>
                  <a:srgbClr val="FF0000"/>
                </a:solidFill>
              </a:rPr>
              <a:t>Pr</a:t>
            </a:r>
            <a:r>
              <a:rPr lang="en-US" sz="2400" dirty="0">
                <a:solidFill>
                  <a:srgbClr val="FF0000"/>
                </a:solidFill>
              </a:rPr>
              <a:t>(A|B)</a:t>
            </a:r>
            <a:r>
              <a:rPr lang="en-US" sz="24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578D0C-2D60-DF4E-BD1A-9CCD85048DCE}"/>
              </a:ext>
            </a:extLst>
          </p:cNvPr>
          <p:cNvSpPr/>
          <p:nvPr/>
        </p:nvSpPr>
        <p:spPr>
          <a:xfrm>
            <a:off x="2560320" y="1490472"/>
            <a:ext cx="3685032" cy="18653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DD930F-6602-284D-9710-0B2450750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633" y="1630699"/>
            <a:ext cx="3502406" cy="179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69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Bayes Rule (3)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236" y="917334"/>
            <a:ext cx="5324399" cy="3205888"/>
          </a:xfrm>
          <a:prstGeom prst="rect">
            <a:avLst/>
          </a:prstGeom>
        </p:spPr>
      </p:pic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0212414"/>
              </p:ext>
            </p:extLst>
          </p:nvPr>
        </p:nvGraphicFramePr>
        <p:xfrm>
          <a:off x="1070429" y="4143376"/>
          <a:ext cx="269240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88" name="Equation" r:id="rId4" imgW="1333500" imgH="419100" progId="Equation.DSMT4">
                  <p:embed/>
                </p:oleObj>
              </mc:Choice>
              <mc:Fallback>
                <p:oleObj name="Equation" r:id="rId4" imgW="1333500" imgH="4191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70429" y="4143376"/>
                        <a:ext cx="2692400" cy="844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9681477"/>
              </p:ext>
            </p:extLst>
          </p:nvPr>
        </p:nvGraphicFramePr>
        <p:xfrm>
          <a:off x="1070429" y="5074416"/>
          <a:ext cx="2767410" cy="869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89" name="Equation" r:id="rId6" imgW="1333500" imgH="419100" progId="Equation.DSMT4">
                  <p:embed/>
                </p:oleObj>
              </mc:Choice>
              <mc:Fallback>
                <p:oleObj name="Equation" r:id="rId6" imgW="1333500" imgH="4191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70429" y="5074416"/>
                        <a:ext cx="2767410" cy="8697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098169"/>
              </p:ext>
            </p:extLst>
          </p:nvPr>
        </p:nvGraphicFramePr>
        <p:xfrm>
          <a:off x="1070429" y="5911850"/>
          <a:ext cx="334803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0" name="Equation" r:id="rId8" imgW="1612900" imgH="419100" progId="Equation.DSMT4">
                  <p:embed/>
                </p:oleObj>
              </mc:Choice>
              <mc:Fallback>
                <p:oleObj name="Equation" r:id="rId8" imgW="1612900" imgH="4191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70429" y="5911850"/>
                        <a:ext cx="3348038" cy="869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640336"/>
              </p:ext>
            </p:extLst>
          </p:nvPr>
        </p:nvGraphicFramePr>
        <p:xfrm>
          <a:off x="4251625" y="4394972"/>
          <a:ext cx="45561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1" name="Equation" r:id="rId10" imgW="2184400" imgH="190500" progId="Equation.DSMT4">
                  <p:embed/>
                </p:oleObj>
              </mc:Choice>
              <mc:Fallback>
                <p:oleObj name="Equation" r:id="rId10" imgW="2184400" imgH="1905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51625" y="4394972"/>
                        <a:ext cx="455612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298713"/>
              </p:ext>
            </p:extLst>
          </p:nvPr>
        </p:nvGraphicFramePr>
        <p:xfrm>
          <a:off x="4418467" y="5944173"/>
          <a:ext cx="4631874" cy="771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2" name="Equation" r:id="rId12" imgW="2514600" imgH="419100" progId="Equation.DSMT4">
                  <p:embed/>
                </p:oleObj>
              </mc:Choice>
              <mc:Fallback>
                <p:oleObj name="Equation" r:id="rId12" imgW="2514600" imgH="4191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418467" y="5944173"/>
                        <a:ext cx="4631874" cy="7719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9222976"/>
              </p:ext>
            </p:extLst>
          </p:nvPr>
        </p:nvGraphicFramePr>
        <p:xfrm>
          <a:off x="5014988" y="4791847"/>
          <a:ext cx="34163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3" name="Equation" r:id="rId14" imgW="1638300" imgH="431800" progId="Equation.DSMT4">
                  <p:embed/>
                </p:oleObj>
              </mc:Choice>
              <mc:Fallback>
                <p:oleObj name="Equation" r:id="rId14" imgW="1638300" imgH="431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014988" y="4791847"/>
                        <a:ext cx="34163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340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Rule Example 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13655"/>
            <a:ext cx="822960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3464" indent="-285750">
              <a:spcAft>
                <a:spcPts val="1200"/>
              </a:spcAft>
              <a:buFont typeface="Arial"/>
              <a:buChar char="•"/>
            </a:pPr>
            <a:r>
              <a:rPr lang="en-US" sz="2000" dirty="0"/>
              <a:t>1% of women at age forty in routine screening have breast cancer</a:t>
            </a:r>
          </a:p>
          <a:p>
            <a:pPr marL="283464" indent="-285750">
              <a:spcAft>
                <a:spcPts val="1200"/>
              </a:spcAft>
              <a:buFont typeface="Arial"/>
              <a:buChar char="•"/>
            </a:pPr>
            <a:r>
              <a:rPr lang="en-US" sz="2000" dirty="0"/>
              <a:t>80% of women </a:t>
            </a:r>
            <a:r>
              <a:rPr lang="en-US" sz="2000" u="sng" dirty="0"/>
              <a:t>with</a:t>
            </a:r>
            <a:r>
              <a:rPr lang="en-US" sz="2000" dirty="0"/>
              <a:t> breast cancer will get positive mammographies</a:t>
            </a:r>
          </a:p>
          <a:p>
            <a:pPr marL="283464" indent="-285750">
              <a:spcAft>
                <a:spcPts val="1200"/>
              </a:spcAft>
              <a:buFont typeface="Arial"/>
              <a:buChar char="•"/>
            </a:pPr>
            <a:r>
              <a:rPr lang="en-US" sz="2000" dirty="0"/>
              <a:t>10% of women </a:t>
            </a:r>
            <a:r>
              <a:rPr lang="en-US" sz="2000" u="sng" dirty="0"/>
              <a:t>without</a:t>
            </a:r>
            <a:r>
              <a:rPr lang="en-US" sz="2000" dirty="0"/>
              <a:t> breast cancer will also get pos. mammographies.</a:t>
            </a:r>
          </a:p>
          <a:p>
            <a:pPr marL="283464" indent="-285750">
              <a:spcAft>
                <a:spcPts val="1200"/>
              </a:spcAft>
              <a:buFont typeface="Arial"/>
              <a:buChar char="•"/>
            </a:pPr>
            <a:r>
              <a:rPr lang="en-US" sz="2000" dirty="0"/>
              <a:t>A woman in this age group had a positive mammography in a routine screening.  What is the probability that she actually has breast cancer?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65620B-C54C-E84A-B3A1-F61034D5E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98" y="3359643"/>
            <a:ext cx="1775065" cy="669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568083-D8F7-2E4C-A0ED-D3150454EF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037" y="3339330"/>
            <a:ext cx="2040751" cy="7102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325070-7995-244B-829F-BA624F744F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5038" y="4000422"/>
            <a:ext cx="3984812" cy="7092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CD2A1F-0C28-D148-8E67-1E1B34156E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1985" y="4754168"/>
            <a:ext cx="6213181" cy="7079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F1BE64-A04E-F84F-9C72-C423905543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7603" y="5404368"/>
            <a:ext cx="2819587" cy="14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01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Bayes Rule Example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9627"/>
            <a:ext cx="8229600" cy="5729516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800" dirty="0"/>
              <a:t>Consider the following courtroom drama: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</a:rPr>
              <a:t>Expert</a:t>
            </a:r>
            <a:r>
              <a:rPr lang="en-US" sz="2400" dirty="0"/>
              <a:t>: ““the probability of  finding — by chance — the blood type at the crime scene which matches the one of the defendant is about one in 1,000.” </a:t>
            </a:r>
            <a:endParaRPr lang="en-US" dirty="0"/>
          </a:p>
          <a:p>
            <a:pPr marL="457200" lvl="1" indent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0000FF"/>
                </a:solidFill>
              </a:rPr>
              <a:t>Prosecutor</a:t>
            </a:r>
            <a:r>
              <a:rPr lang="en-US" sz="2400" dirty="0"/>
              <a:t> in closing argument: “as you can see</a:t>
            </a:r>
            <a:r>
              <a:rPr lang="en-US" sz="2400"/>
              <a:t>, there </a:t>
            </a:r>
            <a:r>
              <a:rPr lang="en-US" sz="2400" dirty="0"/>
              <a:t>is only a one in 1,000 chance that the defendant is innocent and therefore it is clear beyond any reasonable doubt that the defendant is guilty.”</a:t>
            </a:r>
          </a:p>
          <a:p>
            <a:pPr marL="514350" indent="-457200"/>
            <a:r>
              <a:rPr lang="en-US" sz="2800" dirty="0"/>
              <a:t>What is the connection with Bayes Rule?</a:t>
            </a:r>
          </a:p>
          <a:p>
            <a:pPr marL="914400" lvl="1" indent="-457200"/>
            <a:r>
              <a:rPr lang="en-US" sz="2400" dirty="0"/>
              <a:t>All depends on the </a:t>
            </a:r>
            <a:r>
              <a:rPr lang="en-US" sz="2400" dirty="0">
                <a:solidFill>
                  <a:srgbClr val="FF0000"/>
                </a:solidFill>
              </a:rPr>
              <a:t>prior:</a:t>
            </a:r>
            <a:r>
              <a:rPr lang="en-US" sz="2400" dirty="0"/>
              <a:t> </a:t>
            </a:r>
            <a:r>
              <a:rPr lang="en-US" sz="2400" dirty="0" err="1"/>
              <a:t>Pr</a:t>
            </a:r>
            <a:r>
              <a:rPr lang="en-US" sz="2400" dirty="0"/>
              <a:t>(Innocent) vs. </a:t>
            </a:r>
            <a:r>
              <a:rPr lang="en-US" sz="2400" dirty="0" err="1"/>
              <a:t>Pr</a:t>
            </a:r>
            <a:r>
              <a:rPr lang="en-US" sz="2400" dirty="0"/>
              <a:t>(Guilty)</a:t>
            </a:r>
          </a:p>
          <a:p>
            <a:pPr marL="914400" lvl="1" indent="-457200"/>
            <a:r>
              <a:rPr lang="en-US" sz="2400" dirty="0"/>
              <a:t>Compute with </a:t>
            </a:r>
            <a:r>
              <a:rPr lang="en-US" sz="2400" dirty="0" err="1"/>
              <a:t>Pr</a:t>
            </a:r>
            <a:r>
              <a:rPr lang="en-US" sz="2400" dirty="0"/>
              <a:t>(</a:t>
            </a:r>
            <a:r>
              <a:rPr lang="en-US" sz="2400" dirty="0" err="1"/>
              <a:t>g|I</a:t>
            </a:r>
            <a:r>
              <a:rPr lang="en-US" sz="2400" dirty="0"/>
              <a:t>)=1/1000, </a:t>
            </a:r>
            <a:r>
              <a:rPr lang="en-US" sz="2400" dirty="0" err="1"/>
              <a:t>Pr</a:t>
            </a:r>
            <a:r>
              <a:rPr lang="en-US" sz="2400" dirty="0"/>
              <a:t>(G)=1/10000, </a:t>
            </a:r>
            <a:r>
              <a:rPr lang="en-US" sz="2400" dirty="0" err="1"/>
              <a:t>Pr</a:t>
            </a:r>
            <a:r>
              <a:rPr lang="en-US" sz="2400" dirty="0"/>
              <a:t>(</a:t>
            </a:r>
            <a:r>
              <a:rPr lang="en-US" sz="2400" dirty="0" err="1"/>
              <a:t>g|G</a:t>
            </a:r>
            <a:r>
              <a:rPr lang="en-US" sz="2400" dirty="0"/>
              <a:t>)=1 to get </a:t>
            </a:r>
            <a:r>
              <a:rPr lang="en-US" sz="2400" dirty="0" err="1"/>
              <a:t>Pr</a:t>
            </a:r>
            <a:r>
              <a:rPr lang="en-US" sz="2400" dirty="0"/>
              <a:t>(</a:t>
            </a:r>
            <a:r>
              <a:rPr lang="en-US" sz="2400" dirty="0" err="1"/>
              <a:t>G|g</a:t>
            </a:r>
            <a:r>
              <a:rPr lang="en-US" sz="2400" dirty="0"/>
              <a:t>) ≈ 9%</a:t>
            </a:r>
          </a:p>
          <a:p>
            <a:pPr marL="914400" lvl="1" indent="-457200"/>
            <a:endParaRPr lang="en-US" sz="2400" dirty="0"/>
          </a:p>
          <a:p>
            <a:pPr marL="914400" lvl="1" indent="-45720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0997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334"/>
            <a:ext cx="8229600" cy="1143000"/>
          </a:xfrm>
        </p:spPr>
        <p:txBody>
          <a:bodyPr/>
          <a:lstStyle/>
          <a:p>
            <a:r>
              <a:rPr lang="en-US" dirty="0"/>
              <a:t>Monty Hall Problem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5350"/>
            <a:ext cx="8229600" cy="5557983"/>
          </a:xfrm>
        </p:spPr>
        <p:txBody>
          <a:bodyPr>
            <a:normAutofit/>
          </a:bodyPr>
          <a:lstStyle/>
          <a:p>
            <a:r>
              <a:rPr lang="en-US" sz="2400" dirty="0"/>
              <a:t>A valuable prize is randomly placed behind one of three doors</a:t>
            </a:r>
          </a:p>
          <a:p>
            <a:r>
              <a:rPr lang="en-US" sz="2400" dirty="0"/>
              <a:t>Only the game show host knows which door has prize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Contestant can select one of the three doors</a:t>
            </a:r>
          </a:p>
          <a:p>
            <a:r>
              <a:rPr lang="en-US" sz="2400" dirty="0"/>
              <a:t>Suppose (without loss) the contestant chose Door 1</a:t>
            </a:r>
          </a:p>
          <a:p>
            <a:r>
              <a:rPr lang="en-US" sz="2400" dirty="0"/>
              <a:t>Host opens an empty door that contestant did not pick</a:t>
            </a:r>
          </a:p>
          <a:p>
            <a:pPr lvl="1"/>
            <a:r>
              <a:rPr lang="en-US" sz="2000" dirty="0"/>
              <a:t>If prize is behind Door 2, then Door 3 is opened</a:t>
            </a:r>
          </a:p>
          <a:p>
            <a:pPr lvl="1"/>
            <a:r>
              <a:rPr lang="en-US" sz="2000" dirty="0"/>
              <a:t>If prize is behind Door 3, then Door 2 is opened</a:t>
            </a:r>
          </a:p>
          <a:p>
            <a:pPr lvl="1"/>
            <a:r>
              <a:rPr lang="en-US" sz="2000" dirty="0"/>
              <a:t>If prize is behind Door 1, then Door 2 and Door 3 are each equally liked to be opened</a:t>
            </a:r>
          </a:p>
          <a:p>
            <a:pPr>
              <a:spcBef>
                <a:spcPts val="624"/>
              </a:spcBef>
              <a:spcAft>
                <a:spcPts val="1200"/>
              </a:spcAft>
            </a:pPr>
            <a:r>
              <a:rPr lang="en-US" sz="2400" dirty="0"/>
              <a:t>Contestant is then offered choice to switch doors or stay</a:t>
            </a:r>
          </a:p>
          <a:p>
            <a:r>
              <a:rPr lang="en-US" sz="2400" dirty="0"/>
              <a:t>Win the prize if and only if chosen door contains prize</a:t>
            </a:r>
          </a:p>
          <a:p>
            <a:r>
              <a:rPr lang="en-US" sz="2400" dirty="0"/>
              <a:t>Should one stay or switch?</a:t>
            </a:r>
          </a:p>
        </p:txBody>
      </p:sp>
    </p:spTree>
    <p:extLst>
      <p:ext uri="{BB962C8B-B14F-4D97-AF65-F5344CB8AC3E}">
        <p14:creationId xmlns:p14="http://schemas.microsoft.com/office/powerpoint/2010/main" val="1422227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334"/>
            <a:ext cx="8229600" cy="1143000"/>
          </a:xfrm>
        </p:spPr>
        <p:txBody>
          <a:bodyPr/>
          <a:lstStyle/>
          <a:p>
            <a:r>
              <a:rPr lang="en-US" dirty="0"/>
              <a:t>Monty Hall Problem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215350"/>
            <a:ext cx="8471285" cy="5557983"/>
          </a:xfrm>
        </p:spPr>
        <p:txBody>
          <a:bodyPr>
            <a:normAutofit/>
          </a:bodyPr>
          <a:lstStyle/>
          <a:p>
            <a:r>
              <a:rPr lang="en-US" sz="2400" dirty="0"/>
              <a:t>Let D1 be the event that prize is behind door 1; similarly D2, D3</a:t>
            </a:r>
          </a:p>
          <a:p>
            <a:r>
              <a:rPr lang="en-US" sz="2400" dirty="0"/>
              <a:t>Let O1 be the event that door is opened; similarly O2, O3</a:t>
            </a:r>
          </a:p>
          <a:p>
            <a:r>
              <a:rPr lang="en-US" sz="2400" dirty="0"/>
              <a:t>Suppose (without loss) that after first choosing Door 1, the host opens Door 2 revealing it to be empty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928943"/>
              </p:ext>
            </p:extLst>
          </p:nvPr>
        </p:nvGraphicFramePr>
        <p:xfrm>
          <a:off x="2955637" y="3159510"/>
          <a:ext cx="5203647" cy="2590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2" name="Equation" r:id="rId3" imgW="2578100" imgH="1282700" progId="Equation.DSMT4">
                  <p:embed/>
                </p:oleObj>
              </mc:Choice>
              <mc:Fallback>
                <p:oleObj name="Equation" r:id="rId3" imgW="2578100" imgH="1282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55637" y="3159510"/>
                        <a:ext cx="5203647" cy="25901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88364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/>
              <a:t>Hence, </a:t>
            </a:r>
            <a:r>
              <a:rPr lang="en-US" sz="2400" dirty="0" err="1"/>
              <a:t>Pr</a:t>
            </a:r>
            <a:r>
              <a:rPr lang="en-US" sz="2400" dirty="0"/>
              <a:t>(D1|O2)=1/3.  </a:t>
            </a:r>
            <a:r>
              <a:rPr lang="en-US" sz="2400" dirty="0">
                <a:solidFill>
                  <a:srgbClr val="0000FF"/>
                </a:solidFill>
              </a:rPr>
              <a:t>Conclusion: SWITCH!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422723"/>
              </p:ext>
            </p:extLst>
          </p:nvPr>
        </p:nvGraphicFramePr>
        <p:xfrm>
          <a:off x="1295594" y="3327400"/>
          <a:ext cx="1583074" cy="429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3" name="Equation" r:id="rId5" imgW="749300" imgH="203200" progId="Equation.DSMT4">
                  <p:embed/>
                </p:oleObj>
              </mc:Choice>
              <mc:Fallback>
                <p:oleObj name="Equation" r:id="rId5" imgW="749300" imgH="203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95594" y="3327400"/>
                        <a:ext cx="1583074" cy="429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566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833"/>
            <a:ext cx="8229600" cy="1143000"/>
          </a:xfrm>
        </p:spPr>
        <p:txBody>
          <a:bodyPr/>
          <a:lstStyle/>
          <a:p>
            <a:r>
              <a:rPr lang="en-US" dirty="0"/>
              <a:t>Epistemic Group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6205"/>
            <a:ext cx="8229600" cy="5318271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800" dirty="0"/>
              <a:t>Assume a group of n individuals (n odd) needs to choose between two alternatives, </a:t>
            </a:r>
            <a:r>
              <a:rPr lang="en-US" sz="2800" dirty="0">
                <a:solidFill>
                  <a:srgbClr val="0000FF"/>
                </a:solidFill>
              </a:rPr>
              <a:t>A</a:t>
            </a:r>
            <a:r>
              <a:rPr lang="en-US" sz="2800" dirty="0"/>
              <a:t> and </a:t>
            </a:r>
            <a:r>
              <a:rPr lang="en-US" sz="2800" dirty="0">
                <a:solidFill>
                  <a:srgbClr val="0000FF"/>
                </a:solidFill>
              </a:rPr>
              <a:t>B</a:t>
            </a:r>
            <a:r>
              <a:rPr lang="en-US" sz="2800" i="1" dirty="0">
                <a:solidFill>
                  <a:srgbClr val="000000"/>
                </a:solidFill>
              </a:rPr>
              <a:t>, </a:t>
            </a:r>
            <a:r>
              <a:rPr lang="en-US" sz="2800" dirty="0">
                <a:solidFill>
                  <a:srgbClr val="000000"/>
                </a:solidFill>
              </a:rPr>
              <a:t>by simple majority rule</a:t>
            </a:r>
          </a:p>
          <a:p>
            <a:r>
              <a:rPr lang="en-US" sz="2800" dirty="0"/>
              <a:t>One of the two is best; all individuals want to choose the best option, but no-one knows which one</a:t>
            </a:r>
          </a:p>
          <a:p>
            <a:pPr lvl="1">
              <a:spcAft>
                <a:spcPts val="1200"/>
              </a:spcAft>
            </a:pPr>
            <a:r>
              <a:rPr lang="en-US" sz="2400" dirty="0"/>
              <a:t>The prior is that they are equally likely to be best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Each individual gets her own signal, </a:t>
            </a:r>
            <a:r>
              <a:rPr lang="en-US" sz="2800" i="1" dirty="0">
                <a:solidFill>
                  <a:srgbClr val="FF0000"/>
                </a:solidFill>
              </a:rPr>
              <a:t>a</a:t>
            </a:r>
            <a:r>
              <a:rPr lang="en-US" sz="2800" i="1" dirty="0"/>
              <a:t> </a:t>
            </a:r>
            <a:r>
              <a:rPr lang="en-US" sz="2800" dirty="0"/>
              <a:t>or</a:t>
            </a:r>
            <a:r>
              <a:rPr lang="en-US" sz="2800" i="1" dirty="0"/>
              <a:t> </a:t>
            </a:r>
            <a:r>
              <a:rPr lang="en-US" sz="2800" i="1" dirty="0">
                <a:solidFill>
                  <a:srgbClr val="FF0000"/>
                </a:solidFill>
              </a:rPr>
              <a:t>b</a:t>
            </a:r>
          </a:p>
          <a:p>
            <a:pPr>
              <a:spcAft>
                <a:spcPts val="600"/>
              </a:spcAft>
            </a:pPr>
            <a:r>
              <a:rPr lang="en-US" sz="2800" dirty="0" err="1">
                <a:solidFill>
                  <a:srgbClr val="0000FF"/>
                </a:solidFill>
              </a:rPr>
              <a:t>Pr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dirty="0" err="1">
                <a:solidFill>
                  <a:srgbClr val="0000FF"/>
                </a:solidFill>
              </a:rPr>
              <a:t>a|A</a:t>
            </a:r>
            <a:r>
              <a:rPr lang="en-US" sz="2800" dirty="0">
                <a:solidFill>
                  <a:srgbClr val="0000FF"/>
                </a:solidFill>
              </a:rPr>
              <a:t>)=</a:t>
            </a:r>
            <a:r>
              <a:rPr lang="en-US" sz="2800" dirty="0" err="1">
                <a:solidFill>
                  <a:srgbClr val="0000FF"/>
                </a:solidFill>
              </a:rPr>
              <a:t>Pr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dirty="0" err="1">
                <a:solidFill>
                  <a:srgbClr val="0000FF"/>
                </a:solidFill>
              </a:rPr>
              <a:t>b|B</a:t>
            </a:r>
            <a:r>
              <a:rPr lang="en-US" sz="2800" dirty="0">
                <a:solidFill>
                  <a:srgbClr val="0000FF"/>
                </a:solidFill>
              </a:rPr>
              <a:t>)=q</a:t>
            </a:r>
            <a:r>
              <a:rPr lang="en-US" sz="2800" dirty="0">
                <a:solidFill>
                  <a:srgbClr val="000000"/>
                </a:solidFill>
              </a:rPr>
              <a:t>, where ½&lt;q&lt;1</a:t>
            </a:r>
          </a:p>
          <a:p>
            <a:r>
              <a:rPr lang="en-US" sz="2800" dirty="0">
                <a:solidFill>
                  <a:srgbClr val="000000"/>
                </a:solidFill>
              </a:rPr>
              <a:t>How should an individual vote based solely on her own information?</a:t>
            </a:r>
          </a:p>
          <a:p>
            <a:endParaRPr 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62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6100"/>
            <a:ext cx="8229600" cy="1143000"/>
          </a:xfrm>
        </p:spPr>
        <p:txBody>
          <a:bodyPr/>
          <a:lstStyle/>
          <a:p>
            <a:r>
              <a:rPr lang="en-US" dirty="0"/>
              <a:t>Individual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663"/>
            <a:ext cx="8229600" cy="685800"/>
          </a:xfrm>
        </p:spPr>
        <p:txBody>
          <a:bodyPr>
            <a:normAutofit/>
          </a:bodyPr>
          <a:lstStyle/>
          <a:p>
            <a:r>
              <a:rPr lang="en-US" sz="2800" dirty="0"/>
              <a:t>Use Bayes’ Rule: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4996535"/>
              </p:ext>
            </p:extLst>
          </p:nvPr>
        </p:nvGraphicFramePr>
        <p:xfrm>
          <a:off x="2722563" y="2211365"/>
          <a:ext cx="4076700" cy="2589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0" name="Equation" r:id="rId3" imgW="2019300" imgH="1282700" progId="Equation.DSMT4">
                  <p:embed/>
                </p:oleObj>
              </mc:Choice>
              <mc:Fallback>
                <p:oleObj name="Equation" r:id="rId3" imgW="2019300" imgH="1282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22563" y="2211365"/>
                        <a:ext cx="4076700" cy="2589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342807"/>
              </p:ext>
            </p:extLst>
          </p:nvPr>
        </p:nvGraphicFramePr>
        <p:xfrm>
          <a:off x="1502305" y="2401865"/>
          <a:ext cx="1103312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1" name="Equation" r:id="rId5" imgW="546100" imgH="203200" progId="Equation.DSMT4">
                  <p:embed/>
                </p:oleObj>
              </mc:Choice>
              <mc:Fallback>
                <p:oleObj name="Equation" r:id="rId5" imgW="546100" imgH="203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02305" y="2401865"/>
                        <a:ext cx="1103312" cy="409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5058830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Similarly, </a:t>
            </a:r>
            <a:r>
              <a:rPr lang="en-US" sz="2800" dirty="0" err="1"/>
              <a:t>Pr</a:t>
            </a:r>
            <a:r>
              <a:rPr lang="en-US" sz="2800" dirty="0"/>
              <a:t>(</a:t>
            </a:r>
            <a:r>
              <a:rPr lang="en-US" sz="2800" dirty="0" err="1"/>
              <a:t>B|b</a:t>
            </a:r>
            <a:r>
              <a:rPr lang="en-US" sz="2800" dirty="0"/>
              <a:t>)=q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5710763"/>
            <a:ext cx="8229600" cy="960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So, each individual should vote A if she receives signal a and vote B if she receives signal b</a:t>
            </a:r>
          </a:p>
        </p:txBody>
      </p:sp>
    </p:spTree>
    <p:extLst>
      <p:ext uri="{BB962C8B-B14F-4D97-AF65-F5344CB8AC3E}">
        <p14:creationId xmlns:p14="http://schemas.microsoft.com/office/powerpoint/2010/main" val="1162250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Wisdom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71701"/>
          </a:xfrm>
        </p:spPr>
        <p:txBody>
          <a:bodyPr>
            <a:normAutofit/>
          </a:bodyPr>
          <a:lstStyle/>
          <a:p>
            <a:r>
              <a:rPr lang="en-US" sz="2400" dirty="0"/>
              <a:t>Each individual has a probability </a:t>
            </a:r>
            <a:r>
              <a:rPr lang="en-US" sz="2400" dirty="0">
                <a:solidFill>
                  <a:srgbClr val="FF0000"/>
                </a:solidFill>
              </a:rPr>
              <a:t>q</a:t>
            </a:r>
            <a:r>
              <a:rPr lang="en-US" sz="2400" dirty="0"/>
              <a:t> of voting “correctly” or making the right decision on her own</a:t>
            </a:r>
          </a:p>
          <a:p>
            <a:r>
              <a:rPr lang="en-US" sz="2400" dirty="0"/>
              <a:t>What about the group, collectively?</a:t>
            </a:r>
          </a:p>
          <a:p>
            <a:r>
              <a:rPr lang="en-US" sz="2400" dirty="0"/>
              <a:t>Make the right decision if majority of signals are correct</a:t>
            </a:r>
          </a:p>
          <a:p>
            <a:r>
              <a:rPr lang="en-US" sz="2400" dirty="0"/>
              <a:t>Let n=3.  </a:t>
            </a:r>
            <a:r>
              <a:rPr lang="en-US" sz="2400" dirty="0" err="1"/>
              <a:t>Pr</a:t>
            </a:r>
            <a:r>
              <a:rPr lang="en-US" sz="2400" dirty="0"/>
              <a:t>(2 or 3 correct signals)=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616743"/>
              </p:ext>
            </p:extLst>
          </p:nvPr>
        </p:nvGraphicFramePr>
        <p:xfrm>
          <a:off x="2584450" y="3745670"/>
          <a:ext cx="3584575" cy="180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1" name="Equation" r:id="rId3" imgW="1409700" imgH="711200" progId="Equation.DSMT4">
                  <p:embed/>
                </p:oleObj>
              </mc:Choice>
              <mc:Fallback>
                <p:oleObj name="Equation" r:id="rId3" imgW="1409700" imgH="71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84450" y="3745670"/>
                        <a:ext cx="3584575" cy="1806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ntent Placeholder 2"/>
          <p:cNvSpPr txBox="1">
            <a:spLocks/>
          </p:cNvSpPr>
          <p:nvPr/>
        </p:nvSpPr>
        <p:spPr>
          <a:xfrm>
            <a:off x="609600" y="5744559"/>
            <a:ext cx="8229600" cy="883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So the group is more likely to make the right decision than any individual</a:t>
            </a:r>
          </a:p>
        </p:txBody>
      </p:sp>
    </p:spTree>
    <p:extLst>
      <p:ext uri="{BB962C8B-B14F-4D97-AF65-F5344CB8AC3E}">
        <p14:creationId xmlns:p14="http://schemas.microsoft.com/office/powerpoint/2010/main" val="1995061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833"/>
            <a:ext cx="8229600" cy="1143000"/>
          </a:xfrm>
        </p:spPr>
        <p:txBody>
          <a:bodyPr/>
          <a:lstStyle/>
          <a:p>
            <a:r>
              <a:rPr lang="en-US" dirty="0"/>
              <a:t>Group Wisdom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286" y="1187832"/>
            <a:ext cx="8396514" cy="5670167"/>
          </a:xfrm>
        </p:spPr>
        <p:txBody>
          <a:bodyPr/>
          <a:lstStyle/>
          <a:p>
            <a:pPr marL="0" indent="0">
              <a:spcAft>
                <a:spcPts val="1800"/>
              </a:spcAft>
              <a:buNone/>
            </a:pPr>
            <a:r>
              <a:rPr lang="en-US" sz="2800" dirty="0"/>
              <a:t>Let </a:t>
            </a:r>
            <a:r>
              <a:rPr lang="en-US" sz="2800" dirty="0">
                <a:solidFill>
                  <a:srgbClr val="0000FF"/>
                </a:solidFill>
              </a:rPr>
              <a:t>P(</a:t>
            </a:r>
            <a:r>
              <a:rPr lang="en-US" sz="2800" dirty="0" err="1">
                <a:solidFill>
                  <a:srgbClr val="0000FF"/>
                </a:solidFill>
              </a:rPr>
              <a:t>n,q</a:t>
            </a:r>
            <a:r>
              <a:rPr lang="en-US" sz="2800" dirty="0">
                <a:solidFill>
                  <a:srgbClr val="0000FF"/>
                </a:solidFill>
              </a:rPr>
              <a:t>)</a:t>
            </a:r>
            <a:r>
              <a:rPr lang="en-US" sz="2800" dirty="0"/>
              <a:t> be the probability that a group of n&gt;1 (n odd) individuals makes the right decision by majority rule when each individual has an independent probability ½&lt;q&lt;1 of voting for the right option.</a:t>
            </a:r>
            <a:endParaRPr lang="en-US" i="1" u="sng" dirty="0"/>
          </a:p>
          <a:p>
            <a:pPr marL="0" indent="0">
              <a:buNone/>
            </a:pPr>
            <a:r>
              <a:rPr lang="en-US" i="1" u="sng" dirty="0">
                <a:solidFill>
                  <a:srgbClr val="FF0000"/>
                </a:solidFill>
              </a:rPr>
              <a:t>Condorcet Jury Theorems</a:t>
            </a:r>
            <a:r>
              <a:rPr lang="en-US" i="1" dirty="0"/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P(</a:t>
            </a:r>
            <a:r>
              <a:rPr lang="en-US" dirty="0" err="1"/>
              <a:t>n,q</a:t>
            </a:r>
            <a:r>
              <a:rPr lang="en-US" dirty="0"/>
              <a:t>)&gt;p.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P(n+2,q)&gt;P(</a:t>
            </a:r>
            <a:r>
              <a:rPr lang="en-US" dirty="0" err="1"/>
              <a:t>n,q</a:t>
            </a:r>
            <a:r>
              <a:rPr lang="en-US" dirty="0"/>
              <a:t>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As n-&gt;∞, P(</a:t>
            </a:r>
            <a:r>
              <a:rPr lang="en-US" dirty="0" err="1"/>
              <a:t>n,q</a:t>
            </a:r>
            <a:r>
              <a:rPr lang="en-US" dirty="0"/>
              <a:t>)-&gt;1.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Note: For any n, P(</a:t>
            </a:r>
            <a:r>
              <a:rPr lang="en-US" dirty="0" err="1"/>
              <a:t>n,q</a:t>
            </a:r>
            <a:r>
              <a:rPr lang="en-US" dirty="0"/>
              <a:t>) is increasing in q.</a:t>
            </a:r>
          </a:p>
        </p:txBody>
      </p:sp>
      <p:sp>
        <p:nvSpPr>
          <p:cNvPr id="4" name="Rectangle 3"/>
          <p:cNvSpPr/>
          <p:nvPr/>
        </p:nvSpPr>
        <p:spPr>
          <a:xfrm>
            <a:off x="5104190" y="3905907"/>
            <a:ext cx="384628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"The  many, when  taken individually, may  be  quite  ordinary  fellows, but  when they  meet  together,  they  may  well  be  found collectively  better than the few".  --</a:t>
            </a:r>
            <a:r>
              <a:rPr lang="en-US" i="1" dirty="0"/>
              <a:t>Aristotle</a:t>
            </a:r>
          </a:p>
        </p:txBody>
      </p:sp>
    </p:spTree>
    <p:extLst>
      <p:ext uri="{BB962C8B-B14F-4D97-AF65-F5344CB8AC3E}">
        <p14:creationId xmlns:p14="http://schemas.microsoft.com/office/powerpoint/2010/main" val="1982005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954" y="0"/>
            <a:ext cx="8229600" cy="1143000"/>
          </a:xfrm>
        </p:spPr>
        <p:txBody>
          <a:bodyPr/>
          <a:lstStyle/>
          <a:p>
            <a:r>
              <a:rPr lang="en-US" dirty="0"/>
              <a:t>Illustrating the CJTs</a:t>
            </a:r>
          </a:p>
        </p:txBody>
      </p: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770085127"/>
              </p:ext>
            </p:extLst>
          </p:nvPr>
        </p:nvGraphicFramePr>
        <p:xfrm>
          <a:off x="1941" y="1572381"/>
          <a:ext cx="9142059" cy="5043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" y="942945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q=.51, .55, .6, and .65</a:t>
            </a:r>
          </a:p>
        </p:txBody>
      </p:sp>
    </p:spTree>
    <p:extLst>
      <p:ext uri="{BB962C8B-B14F-4D97-AF65-F5344CB8AC3E}">
        <p14:creationId xmlns:p14="http://schemas.microsoft.com/office/powerpoint/2010/main" val="62587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Caveat on Group Wisdom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½&gt;q&gt;0 then opposite conclusions hold: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P(</a:t>
            </a:r>
            <a:r>
              <a:rPr lang="en-US" dirty="0" err="1"/>
              <a:t>n,q</a:t>
            </a:r>
            <a:r>
              <a:rPr lang="en-US" dirty="0"/>
              <a:t>)&lt;p.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P(n+2,q)&lt;P(</a:t>
            </a:r>
            <a:r>
              <a:rPr lang="en-US" dirty="0" err="1"/>
              <a:t>n,q</a:t>
            </a:r>
            <a:r>
              <a:rPr lang="en-US" dirty="0"/>
              <a:t>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As n-&gt;∞, P(</a:t>
            </a:r>
            <a:r>
              <a:rPr lang="en-US" dirty="0" err="1"/>
              <a:t>n,q</a:t>
            </a:r>
            <a:r>
              <a:rPr lang="en-US" dirty="0"/>
              <a:t>)-&gt;0.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418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9993</TotalTime>
  <Words>1099</Words>
  <Application>Microsoft Macintosh PowerPoint</Application>
  <PresentationFormat>On-screen Show (4:3)</PresentationFormat>
  <Paragraphs>93</Paragraphs>
  <Slides>16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Equation</vt:lpstr>
      <vt:lpstr>ECON 4402 Seminar on Elections</vt:lpstr>
      <vt:lpstr>Today’s goals</vt:lpstr>
      <vt:lpstr>Information Aggregation</vt:lpstr>
      <vt:lpstr>Bayes Rule (1)</vt:lpstr>
      <vt:lpstr>Bayes Rule (2)</vt:lpstr>
      <vt:lpstr>Bayes Rule (3)</vt:lpstr>
      <vt:lpstr>Bayes Rule Example (1)</vt:lpstr>
      <vt:lpstr>Bayes Rule Example (2)</vt:lpstr>
      <vt:lpstr>Monty Hall Problem (1)</vt:lpstr>
      <vt:lpstr>Monty Hall Problem (2)</vt:lpstr>
      <vt:lpstr>Epistemic Group Decisions</vt:lpstr>
      <vt:lpstr>Individual Behavior</vt:lpstr>
      <vt:lpstr>Group Wisdom (1)</vt:lpstr>
      <vt:lpstr>Group Wisdom (2)</vt:lpstr>
      <vt:lpstr>Illustrating the CJTs</vt:lpstr>
      <vt:lpstr>Caveat on Group Wisdom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 W4921</dc:title>
  <dc:creator>Navin Kartik</dc:creator>
  <cp:lastModifiedBy>Navin Kartik</cp:lastModifiedBy>
  <cp:revision>1704</cp:revision>
  <cp:lastPrinted>2015-03-13T14:36:34Z</cp:lastPrinted>
  <dcterms:created xsi:type="dcterms:W3CDTF">2013-01-21T20:21:23Z</dcterms:created>
  <dcterms:modified xsi:type="dcterms:W3CDTF">2026-02-18T13:16:54Z</dcterms:modified>
</cp:coreProperties>
</file>